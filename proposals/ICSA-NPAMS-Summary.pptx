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51960"/>
            <a:ext cx="12188952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12188952" cy="54864"/>
          </a:xfrm>
          <a:prstGeom prst="rect">
            <a:avLst/>
          </a:prstGeom>
          <a:solidFill>
            <a:srgbClr val="CE1126"/>
          </a:solidFill>
          <a:ln/>
        </p:spPr>
      </p:sp>
      <p:pic>
        <p:nvPicPr>
          <p:cNvPr id="4" name="Image 0" descr="/home/runner/workspace/artifacts/npams-web/public/agencies/png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2956" y="6400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031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Public Asset Management System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Summary for the PNG Immigration &amp; Citizenship Authority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LanFrame for the NPAMS Programme Office  ·  11 May 2026  ·  NPAMS-ICSA-2026-002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400" kern="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NPAMS for ICSA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auditable system of record for every ICSA asset — blank ePassport stocks, visa stickers, biometric workstations, secure printers, vehicles and the full estate at HQ and border posts.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and multi-tenant. ICSA joins six Authorities already in production (PNGDF, RPNGC, IRC, Treasury, Customs, Ombudsman) with its own scoped data, branding and roles.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PNG public sector by LanFrame: GIS over all 22 provinces, HMAC-SHA256 signed approvals, evidence-grade activity log, scope enforcement down to the facility.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IP licence. ICSA pays only for onboarding, configuration, training, hosting and ongoing support — the subscription model is described in this deck.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from contract to Go-Live, with two further weeks of hyper-care.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55448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554480"/>
            <a:ext cx="91440" cy="12801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66420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PGK 104,500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504438" y="155448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4438" y="1554480"/>
            <a:ext cx="91440" cy="12801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3733038" y="166420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/ YR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33038" y="196596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PGK 56,100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68796" y="155448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8796" y="1554480"/>
            <a:ext cx="91440" cy="128016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166420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97396" y="196596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33154" y="155448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3154" y="1554480"/>
            <a:ext cx="91440" cy="128016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5" name="Text 23"/>
          <p:cNvSpPr/>
          <p:nvPr/>
        </p:nvSpPr>
        <p:spPr>
          <a:xfrm>
            <a:off x="9461754" y="166420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INCLUDED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61754" y="196596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40080" y="310896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108960"/>
            <a:ext cx="91440" cy="12801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321868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352044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504438" y="310896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4438" y="3108960"/>
            <a:ext cx="91440" cy="12801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3" name="Text 31"/>
          <p:cNvSpPr/>
          <p:nvPr/>
        </p:nvSpPr>
        <p:spPr>
          <a:xfrm>
            <a:off x="3733038" y="321868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FEATURES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3038" y="352044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368796" y="310896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8796" y="3108960"/>
            <a:ext cx="91440" cy="128016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7" name="Text 35"/>
          <p:cNvSpPr/>
          <p:nvPr/>
        </p:nvSpPr>
        <p:spPr>
          <a:xfrm>
            <a:off x="6597396" y="321868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97396" y="352044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9233154" y="310896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3154" y="3108960"/>
            <a:ext cx="91440" cy="128016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1" name="Text 39"/>
          <p:cNvSpPr/>
          <p:nvPr/>
        </p:nvSpPr>
        <p:spPr>
          <a:xfrm>
            <a:off x="9461754" y="3218688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EVENTS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461754" y="3520440"/>
            <a:ext cx="23157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0080" y="47548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 PNG-accessible cloud region · daily encrypted backups · TLS 1.2+ · AES-256 at rest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supported by LanFrame for the NPAMS Programme Office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Live Today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371600"/>
            <a:ext cx="3636264" cy="4389120"/>
          </a:xfrm>
          <a:prstGeom prst="roundRect">
            <a:avLst>
              <a:gd name="adj" fmla="val 201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71600"/>
            <a:ext cx="3636264" cy="4114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371600"/>
            <a:ext cx="3270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 &amp; Stock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32705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CRUD with auto-suggested asset tag (PNGICA-VEH-014)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short codes (BLD, VEH, ICT, OFF, MED, MCH, COM)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Per-facility stock balances and movement ledger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reorder purchase request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QR verification page (no login)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documents in object storage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transfers, lifecycle and prev/next stepper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7784" y="1371600"/>
            <a:ext cx="3636264" cy="4389120"/>
          </a:xfrm>
          <a:prstGeom prst="roundRect">
            <a:avLst>
              <a:gd name="adj" fmla="val 201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7784" y="1371600"/>
            <a:ext cx="3636264" cy="4114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50664" y="1371600"/>
            <a:ext cx="3270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Audit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0664" y="1828800"/>
            <a:ext cx="32705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request pipeline with approve / reject / receive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events on every state transition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event timeline UI with re-verifiable hashes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sessions scoped to province / district / facility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verification with camera + GPS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 with cost &amp; downtime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activity log for the Auditor-General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5488" y="1371600"/>
            <a:ext cx="3636264" cy="4389120"/>
          </a:xfrm>
          <a:prstGeom prst="roundRect">
            <a:avLst>
              <a:gd name="adj" fmla="val 201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5488" y="1371600"/>
            <a:ext cx="3636264" cy="4114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1" name="Text 19"/>
          <p:cNvSpPr/>
          <p:nvPr/>
        </p:nvSpPr>
        <p:spPr>
          <a:xfrm>
            <a:off x="8278368" y="1371600"/>
            <a:ext cx="3270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Platform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8368" y="1828800"/>
            <a:ext cx="32705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and national dashboards (KPIs + charts)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module with one-click CSV export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inbox with mark-read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GIS map of all 22 PNG provinces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RBAC with scope enforcement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branding per Authority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tokens with full dark-mode polish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capabilities live in production today.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Procurement Workflow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submits → scoped approver signs → goods receipt closes the loop.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transition writes an immutable row with signed_name, signed_at and signed_hash.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signed_hash = HMAC-SHA256(server_secret, "v1|user|action|request|timestamp|name").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ICSA's Auditor can re-compute every hash from the documented input string and prove no event has been tampered with.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 today: PR-20260511-5092 carries verifiable submitted + approved signatures.</a:t>
            </a:r>
            <a:endParaRPr lang="en-US" sz="1400" dirty="0"/>
          </a:p>
        </p:txBody>
      </p:sp>
      <p:pic>
        <p:nvPicPr>
          <p:cNvPr id="12" name="Image 0" descr="/home/runner/workspace/proposals/assets/03-purchase-reques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486400" cy="3657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350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 — Purchase Requests workflow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PNG-Specific GIS — All 22 Provinces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map of every PNG province and district (GADM boundaries).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Street, Satellite and Topographic basemaps; province / district selection dims unrelated areas.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for ICSA assets and stock locations across HQ, regional offices, sea ports and border posts.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location → asset → custodian drill-down used in the dashboards and reports.</a:t>
            </a:r>
            <a:endParaRPr lang="en-US" sz="1400" dirty="0"/>
          </a:p>
        </p:txBody>
      </p:sp>
      <p:pic>
        <p:nvPicPr>
          <p:cNvPr id="12" name="Image 0" descr="/home/runner/workspace/proposals/assets/04-g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486400" cy="3657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350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 — GIS Province Map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65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NPAMS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 passwords; JWT (8h) + rotating refresh tokens stored as SHA-256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with scope at national / agency / province / district / facility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signatures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HMAC-SHA256 on every PR state transition — verifiable &amp; non-repudiable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activity_logs and purchase_request_events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PNG-accessible cloud region; daily encrypted backups (30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transit / at 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1.2+ end-to-end · AES-256 at the storage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/ SLA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24 h · RTO 8 h · 99.5% monthly uptime · P1 1 h, P2 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mgmt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CVE scan, SAST every release, quarterly external pen-test summary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 — Year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0879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029200"/>
                <a:gridCol w="3657600"/>
                <a:gridCol w="1764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(PGK)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Licence — 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named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&amp;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Migration &amp; Seeding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&amp; Maintenance — 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months, ≤ 8 hrs/mo enhancements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(excl. GST)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(10%)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 Year 1 (incl. GST)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104,500.00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116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from Year 2: PGK 56,100 incl. GST  ·  3-Year TCO: PGK 216,700 incl. GST  ·  Add-on user: PGK 600 / yr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8 Weeks to Go-Live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08960"/>
            <a:ext cx="1166368" cy="4572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52168" y="3108960"/>
            <a:ext cx="1166368" cy="4572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6" name="Text 14"/>
          <p:cNvSpPr/>
          <p:nvPr/>
        </p:nvSpPr>
        <p:spPr>
          <a:xfrm>
            <a:off x="1852168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60728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Provisioning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4256" y="3108960"/>
            <a:ext cx="1166368" cy="4572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9" name="Text 17"/>
          <p:cNvSpPr/>
          <p:nvPr/>
        </p:nvSpPr>
        <p:spPr>
          <a:xfrm>
            <a:off x="3064256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2816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76344" y="3108960"/>
            <a:ext cx="1166368" cy="4572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4276344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84904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8432" y="3108960"/>
            <a:ext cx="1166368" cy="4572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8432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6992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00520" y="3108960"/>
            <a:ext cx="1166368" cy="4572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8" name="Text 26"/>
          <p:cNvSpPr/>
          <p:nvPr/>
        </p:nvSpPr>
        <p:spPr>
          <a:xfrm>
            <a:off x="6700520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09080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12608" y="3108960"/>
            <a:ext cx="1166368" cy="4572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1" name="Text 29"/>
          <p:cNvSpPr/>
          <p:nvPr/>
        </p:nvSpPr>
        <p:spPr>
          <a:xfrm>
            <a:off x="7912608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21168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24696" y="3108960"/>
            <a:ext cx="1166368" cy="4572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4" name="Text 32"/>
          <p:cNvSpPr/>
          <p:nvPr/>
        </p:nvSpPr>
        <p:spPr>
          <a:xfrm>
            <a:off x="9124696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33256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336784" y="3108960"/>
            <a:ext cx="1166368" cy="4572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7" name="Text 35"/>
          <p:cNvSpPr/>
          <p:nvPr/>
        </p:nvSpPr>
        <p:spPr>
          <a:xfrm>
            <a:off x="10336784" y="3108960"/>
            <a:ext cx="1166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45344" y="3703320"/>
            <a:ext cx="1349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Hyper-care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14630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contract → Go-Live, plus two weeks of LanFrame on-site hyper-care.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4572000"/>
            <a:ext cx="109087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kick-off and governance set-up.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2–6 — tenant provisioning, data migration and configuration in parallel.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 — training (Asset Officer, Agency Admin, Auditor) and UAT sign-off.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 — production cut-over with DR drill, runbook hand-over.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 — hyper-care: defect triage and performance tuning.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Included in the Year-1 Engagement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371600"/>
            <a:ext cx="2658618" cy="42062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71600"/>
            <a:ext cx="2658618" cy="41148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371600"/>
            <a:ext cx="238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approvals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2384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push alerts on PR status changes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and price history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end-to-end tests for the reorder flow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screen verifies every signed approval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alerts in the bell-icon tray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90138" y="1371600"/>
            <a:ext cx="2658618" cy="42062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138" y="1371600"/>
            <a:ext cx="2658618" cy="41148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7" name="Text 15"/>
          <p:cNvSpPr/>
          <p:nvPr/>
        </p:nvSpPr>
        <p:spPr>
          <a:xfrm>
            <a:off x="3527298" y="1371600"/>
            <a:ext cx="238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dashboards &amp; reports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7298" y="1828800"/>
            <a:ext cx="2384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backup history &amp; live system metrics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 on the dashboard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Bulk-edit reorder thresholds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code in reports &amp; dashboard breakdowns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API parameter typing (internal hardening)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0196" y="1371600"/>
            <a:ext cx="2658618" cy="42062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0196" y="1371600"/>
            <a:ext cx="2658618" cy="41148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1" name="Text 19"/>
          <p:cNvSpPr/>
          <p:nvPr/>
        </p:nvSpPr>
        <p:spPr>
          <a:xfrm>
            <a:off x="6277356" y="1371600"/>
            <a:ext cx="238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history, search &amp; UX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7356" y="1828800"/>
            <a:ext cx="2384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audit events inline on asset history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 asset's full history to PDF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Top-bar search across stock, audits and PRs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search results page for large match sets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Audit-assignment stepper for officers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pass for audit, maintenance &amp; public pages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90254" y="1371600"/>
            <a:ext cx="2658618" cy="42062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90254" y="1371600"/>
            <a:ext cx="2658618" cy="41148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5" name="Text 23"/>
          <p:cNvSpPr/>
          <p:nvPr/>
        </p:nvSpPr>
        <p:spPr>
          <a:xfrm>
            <a:off x="9027414" y="1371600"/>
            <a:ext cx="238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deployment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27414" y="1828800"/>
            <a:ext cx="2384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desktop installer (MSI / EXE)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mobile app (signed APK)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deployment runbook for ICSA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proposal collateral refresh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two categories cannot share a 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roadmap items, scheduled inside the ≤ 8 hrs/month enhancement envelope of the support contract.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3924" cy="914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6703924" y="0"/>
            <a:ext cx="3656686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609" y="0"/>
            <a:ext cx="1828343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NPAMS Programme Office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65676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LanFrame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NPAMS Programme — ICSA Sponsor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4864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PNG-resident delivery partner accountable for the NPAMS platform end-to-end.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operating six tenant Authorities in production — proven onboarding, training and support muscle.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contract, single throat to choke: platform, hosting, training, support and roadmap all from one team.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 covers monthly CVE scans, SAST on every release, quarterly external penetration test summaries delivered to ICSA.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delivered inside the support envelope at no extra cost — ICSA gets new capability every month.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formats throughout: Postgres dump and CSV export available on demand.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51960"/>
            <a:ext cx="12188952" cy="9144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12188952" cy="5486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9445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ICSA confirms 15-user concurrent licence and Year-1 scope.
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LanFrame issues contract for signature within 5 business days.
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Kick-off Week 1 — Go-Live Week 8 — hyper-care to Week 10.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LanFrame  ·  on behalf of the NPAMS Programme Office  ·  Independent State of Papua New Guinea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LanFrame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NPAMS — ICSA Sponsor Summary</dc:title>
  <dc:subject>PptxGenJS Presentation</dc:subject>
  <dc:creator>LanFrame for the NPAMS Programme Office</dc:creator>
  <cp:lastModifiedBy>LanFrame for the NPAMS Programme Office</cp:lastModifiedBy>
  <cp:revision>1</cp:revision>
  <dcterms:created xsi:type="dcterms:W3CDTF">2026-05-11T21:25:27Z</dcterms:created>
  <dcterms:modified xsi:type="dcterms:W3CDTF">2026-05-11T21:25:27Z</dcterms:modified>
</cp:coreProperties>
</file>